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74" r:id="rId3"/>
    <p:sldId id="273" r:id="rId4"/>
    <p:sldId id="275" r:id="rId5"/>
    <p:sldId id="279" r:id="rId6"/>
    <p:sldId id="277" r:id="rId7"/>
    <p:sldId id="278" r:id="rId8"/>
    <p:sldId id="280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425"/>
    <a:srgbClr val="00583D"/>
    <a:srgbClr val="CBC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0696E-9445-428A-B0F7-D4350949563B}" v="3" dt="2025-12-02T18:10:31.119"/>
    <p1510:client id="{C62542CB-6F75-4CC4-99E1-ABE23ECF20FA}" v="1034" dt="2025-12-02T22:21:27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1" autoAdjust="0"/>
    <p:restoredTop sz="88366" autoAdjust="0"/>
  </p:normalViewPr>
  <p:slideViewPr>
    <p:cSldViewPr snapToGrid="0">
      <p:cViewPr varScale="1">
        <p:scale>
          <a:sx n="98" d="100"/>
          <a:sy n="98" d="100"/>
        </p:scale>
        <p:origin x="106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nivalaska-my.sharepoint.com/personal/asperry6_alaska_edu/Documents/Projects/Commission%20on%20Aging%20Work/EconomicContributionOfSeniors/Data/DataForFigure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'Figure 1'!$B$65</c:f>
              <c:strCache>
                <c:ptCount val="1"/>
              </c:strCache>
            </c:strRef>
          </c:tx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4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08-40D4-9BD7-2AB8D637F00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$1.3 billion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B08-40D4-9BD7-2AB8D637F00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$1.34</a:t>
                    </a:r>
                    <a:r>
                      <a:rPr lang="en-US" baseline="0"/>
                      <a:t> billion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B08-40D4-9BD7-2AB8D637F00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$1.8 billion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B08-40D4-9BD7-2AB8D637F00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$1.46 billion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B08-40D4-9BD7-2AB8D637F00A}"/>
                </c:ext>
              </c:extLst>
            </c:dLbl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1'!$A$66:$A$69</c:f>
              <c:strCache>
                <c:ptCount val="4"/>
                <c:pt idx="0">
                  <c:v>2005 seafood harvest</c:v>
                </c:pt>
                <c:pt idx="1">
                  <c:v>2004 mineral production</c:v>
                </c:pt>
                <c:pt idx="2">
                  <c:v>2001 tourist spending</c:v>
                </c:pt>
                <c:pt idx="3">
                  <c:v>2004 cash flow from retirees aged 60+</c:v>
                </c:pt>
              </c:strCache>
            </c:strRef>
          </c:cat>
          <c:val>
            <c:numRef>
              <c:f>'Figure 1'!$B$66:$B$69</c:f>
              <c:numCache>
                <c:formatCode>General</c:formatCode>
                <c:ptCount val="4"/>
                <c:pt idx="0">
                  <c:v>1300000000</c:v>
                </c:pt>
                <c:pt idx="1">
                  <c:v>1340000000</c:v>
                </c:pt>
                <c:pt idx="2">
                  <c:v>1800000000</c:v>
                </c:pt>
                <c:pt idx="3">
                  <c:v>1460000000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'Figure 1'!$C$66:$C$69</c15:f>
                <c15:dlblRangeCache>
                  <c:ptCount val="4"/>
                  <c:pt idx="0">
                    <c:v>$1.3 billon</c:v>
                  </c:pt>
                  <c:pt idx="1">
                    <c:v>$1.34 billon</c:v>
                  </c:pt>
                  <c:pt idx="2">
                    <c:v>$1.8 billon</c:v>
                  </c:pt>
                  <c:pt idx="3">
                    <c:v>$1.46 billon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3B08-40D4-9BD7-2AB8D637F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2"/>
        <c:axId val="314525023"/>
        <c:axId val="314526463"/>
      </c:barChart>
      <c:catAx>
        <c:axId val="3145250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526463"/>
        <c:crosses val="autoZero"/>
        <c:auto val="1"/>
        <c:lblAlgn val="ctr"/>
        <c:lblOffset val="100"/>
        <c:noMultiLvlLbl val="0"/>
      </c:catAx>
      <c:valAx>
        <c:axId val="314526463"/>
        <c:scaling>
          <c:orientation val="minMax"/>
          <c:max val="75000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525023"/>
        <c:crosses val="autoZero"/>
        <c:crossBetween val="between"/>
        <c:dispUnits>
          <c:builtInUnit val="b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>
          <a:softEdge rad="101600"/>
        </a:effectLst>
      </c:spPr>
    </c:plotArea>
    <c:plotVisOnly val="1"/>
    <c:dispBlanksAs val="gap"/>
    <c:showDLblsOverMax val="0"/>
  </c:chart>
  <c:spPr>
    <a:noFill/>
    <a:ln w="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2"/>
        <c:axId val="314525023"/>
        <c:axId val="314526463"/>
      </c:barChart>
      <c:catAx>
        <c:axId val="3145250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526463"/>
        <c:crosses val="autoZero"/>
        <c:auto val="1"/>
        <c:lblAlgn val="ctr"/>
        <c:lblOffset val="100"/>
        <c:noMultiLvlLbl val="0"/>
      </c:catAx>
      <c:valAx>
        <c:axId val="314526463"/>
        <c:scaling>
          <c:orientation val="minMax"/>
          <c:max val="75000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525023"/>
        <c:crosses val="autoZero"/>
        <c:crossBetween val="between"/>
        <c:dispUnits>
          <c:builtInUnit val="b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>
          <a:softEdge rad="101600"/>
        </a:effectLst>
      </c:spPr>
    </c:plotArea>
    <c:plotVisOnly val="1"/>
    <c:dispBlanksAs val="gap"/>
    <c:showDLblsOverMax val="0"/>
  </c:chart>
  <c:spPr>
    <a:noFill/>
    <a:ln w="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583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75-4E87-BA9C-31DA479ADC07}"/>
              </c:ext>
            </c:extLst>
          </c:dPt>
          <c:dPt>
            <c:idx val="1"/>
            <c:invertIfNegative val="0"/>
            <c:bubble3D val="0"/>
            <c:spPr>
              <a:solidFill>
                <a:srgbClr val="00583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75-4E87-BA9C-31DA479ADC07}"/>
              </c:ext>
            </c:extLst>
          </c:dPt>
          <c:dPt>
            <c:idx val="2"/>
            <c:invertIfNegative val="0"/>
            <c:bubble3D val="0"/>
            <c:spPr>
              <a:solidFill>
                <a:srgbClr val="00583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75-4E87-BA9C-31DA479ADC0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$1.83 billion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9B75-4E87-BA9C-31DA479ADC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$4.0 billion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9B75-4E87-BA9C-31DA479ADC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$4.37 billion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9B75-4E87-BA9C-31DA479ADC0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$6.7 billion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9B75-4E87-BA9C-31DA479ADC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1'!$A$73:$A$76</c:f>
              <c:strCache>
                <c:ptCount val="4"/>
                <c:pt idx="0">
                  <c:v>2022-2023 average seafood harvest</c:v>
                </c:pt>
                <c:pt idx="1">
                  <c:v>2024 mineral production</c:v>
                </c:pt>
                <c:pt idx="2">
                  <c:v>2023 tourist spending</c:v>
                </c:pt>
                <c:pt idx="3">
                  <c:v>2023 cash flow from retirees aged 60+</c:v>
                </c:pt>
              </c:strCache>
              <c:extLst/>
            </c:strRef>
          </c:cat>
          <c:val>
            <c:numRef>
              <c:f>'Figure 1'!$B$73:$B$76</c:f>
              <c:numCache>
                <c:formatCode>"$"#,##0_);[Red]\("$"#,##0\)</c:formatCode>
                <c:ptCount val="4"/>
                <c:pt idx="0">
                  <c:v>1827000000</c:v>
                </c:pt>
                <c:pt idx="1">
                  <c:v>4000000000</c:v>
                </c:pt>
                <c:pt idx="2">
                  <c:v>4368824400</c:v>
                </c:pt>
                <c:pt idx="3" formatCode="&quot;$&quot;#,##0.00_);[Red]\(&quot;$&quot;#,##0.00\)">
                  <c:v>6689075687.9397659</c:v>
                </c:pt>
              </c:numCache>
              <c:extLst/>
            </c:numRef>
          </c:val>
          <c:extLst>
            <c:ext xmlns:c15="http://schemas.microsoft.com/office/drawing/2012/chart" uri="{02D57815-91ED-43cb-92C2-25804820EDAC}">
              <c15:datalabelsRange>
                <c15:f>'Figure 1'!$C$72:$C$76</c15:f>
                <c15:dlblRangeCache>
                  <c:ptCount val="5"/>
                  <c:pt idx="1">
                    <c:v>$1.83 billion</c:v>
                  </c:pt>
                  <c:pt idx="2">
                    <c:v>$4.0 billion</c:v>
                  </c:pt>
                  <c:pt idx="3">
                    <c:v>$4.37 billion</c:v>
                  </c:pt>
                  <c:pt idx="4">
                    <c:v>$6.7 billion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9B75-4E87-BA9C-31DA479ADC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2"/>
        <c:axId val="314525023"/>
        <c:axId val="314526463"/>
      </c:barChart>
      <c:catAx>
        <c:axId val="3145250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526463"/>
        <c:crosses val="autoZero"/>
        <c:auto val="1"/>
        <c:lblAlgn val="ctr"/>
        <c:lblOffset val="100"/>
        <c:noMultiLvlLbl val="0"/>
      </c:catAx>
      <c:valAx>
        <c:axId val="314526463"/>
        <c:scaling>
          <c:orientation val="minMax"/>
          <c:max val="75000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525023"/>
        <c:crosses val="autoZero"/>
        <c:crossBetween val="between"/>
        <c:dispUnits>
          <c:builtInUnit val="b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>
          <a:softEdge rad="101600"/>
        </a:effectLst>
      </c:spPr>
    </c:plotArea>
    <c:plotVisOnly val="1"/>
    <c:dispBlanksAs val="gap"/>
    <c:showDLblsOverMax val="0"/>
  </c:chart>
  <c:spPr>
    <a:noFill/>
    <a:ln w="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/>
                </a:solidFill>
              </a:rPr>
              <a:t>Number of Alaskans 65 and Older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4115375-329B-4A0C-AFAB-A17A7F52389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936BB62B-2811-402E-B421-2E38141EA87A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B04C-4D24-BBF9-D79ECCDFA3F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21139DB-2F88-4D82-9258-F188F53E3FA6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7BD6DD68-CB94-4A83-990C-4E8982EEA73F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B04C-4D24-BBF9-D79ECCDFA3F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0FC9A33-C407-4F7A-85F6-4DC70FDFF046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A4C93C30-FBCA-4BA4-977E-12B3C8153DF2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B04C-4D24-BBF9-D79ECCDFA3F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F040F66-CF9C-4AFB-BE18-39A990D5165C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ED32F700-4898-48B4-A5E2-25A145C2C27A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B04C-4D24-BBF9-D79ECCDFA3F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6292D4E-430B-47AA-8995-B693084AE5FF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8A6F0456-8C7D-4986-A080-1C4A049C2361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B04C-4D24-BBF9-D79ECCDFA3F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5671614-220F-4C66-A80E-84601EA0BB1E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2795DB77-0FF8-4C3D-867F-6AC779D7397B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B04C-4D24-BBF9-D79ECCDFA3F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4DE0CF0B-2756-4963-9641-6B1B812FCFBB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3ABE94AF-8DCE-4FD2-9162-4ED4A05D1614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B04C-4D24-BBF9-D79ECCDFA3F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6E614240-119F-4247-A1E3-0B63D9AE3757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C7C961B8-7B54-4C0B-A220-CF77652B8A9C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B04C-4D24-BBF9-D79ECCDFA3F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numRef>
              <c:f>'Figure 7'!$A$2:$A$9</c:f>
              <c:numCache>
                <c:formatCode>General</c:formatCode>
                <c:ptCount val="8"/>
                <c:pt idx="0">
                  <c:v>1960</c:v>
                </c:pt>
                <c:pt idx="1">
                  <c:v>1970</c:v>
                </c:pt>
                <c:pt idx="2">
                  <c:v>1980</c:v>
                </c:pt>
                <c:pt idx="3">
                  <c:v>1990</c:v>
                </c:pt>
                <c:pt idx="4">
                  <c:v>2000</c:v>
                </c:pt>
                <c:pt idx="5">
                  <c:v>2010</c:v>
                </c:pt>
                <c:pt idx="6">
                  <c:v>2020</c:v>
                </c:pt>
                <c:pt idx="7">
                  <c:v>2025</c:v>
                </c:pt>
              </c:numCache>
            </c:numRef>
          </c:cat>
          <c:val>
            <c:numRef>
              <c:f>'Figure 7'!$B$2:$B$9</c:f>
              <c:numCache>
                <c:formatCode>General</c:formatCode>
                <c:ptCount val="8"/>
                <c:pt idx="0">
                  <c:v>5541</c:v>
                </c:pt>
                <c:pt idx="1">
                  <c:v>6715</c:v>
                </c:pt>
                <c:pt idx="2">
                  <c:v>11159</c:v>
                </c:pt>
                <c:pt idx="3">
                  <c:v>22369</c:v>
                </c:pt>
                <c:pt idx="4">
                  <c:v>35699</c:v>
                </c:pt>
                <c:pt idx="5">
                  <c:v>54938</c:v>
                </c:pt>
                <c:pt idx="6">
                  <c:v>95185</c:v>
                </c:pt>
                <c:pt idx="7">
                  <c:v>118725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'Figure 7'!$C$2:$C$9</c15:f>
                <c15:dlblRangeCache>
                  <c:ptCount val="8"/>
                  <c:pt idx="0">
                    <c:v>2.4%</c:v>
                  </c:pt>
                  <c:pt idx="1">
                    <c:v>2.2%</c:v>
                  </c:pt>
                  <c:pt idx="2">
                    <c:v>2.8%</c:v>
                  </c:pt>
                  <c:pt idx="3">
                    <c:v>4.1%</c:v>
                  </c:pt>
                  <c:pt idx="4">
                    <c:v>5.7%</c:v>
                  </c:pt>
                  <c:pt idx="5">
                    <c:v>7.7%</c:v>
                  </c:pt>
                  <c:pt idx="6">
                    <c:v>13.0%</c:v>
                  </c:pt>
                  <c:pt idx="7">
                    <c:v>16.1%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B04C-4D24-BBF9-D79ECCDFA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9"/>
        <c:overlap val="-7"/>
        <c:axId val="679460959"/>
        <c:axId val="679451839"/>
      </c:barChart>
      <c:catAx>
        <c:axId val="679460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451839"/>
        <c:crosses val="autoZero"/>
        <c:auto val="1"/>
        <c:lblAlgn val="ctr"/>
        <c:lblOffset val="100"/>
        <c:noMultiLvlLbl val="0"/>
      </c:catAx>
      <c:valAx>
        <c:axId val="67945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460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Historical and Projected Growth, People 65 and Older, Alaska</a:t>
            </a:r>
            <a:r>
              <a:rPr lang="en-US" sz="1800" baseline="0" dirty="0">
                <a:solidFill>
                  <a:schemeClr val="tx1"/>
                </a:solidFill>
              </a:rPr>
              <a:t> and U.S.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'Figure 2'!$A$15</c:f>
              <c:strCache>
                <c:ptCount val="1"/>
                <c:pt idx="0">
                  <c:v>US</c:v>
                </c:pt>
              </c:strCache>
            </c:strRef>
          </c:tx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2'!$B$14:$F$14</c:f>
              <c:strCache>
                <c:ptCount val="5"/>
                <c:pt idx="0">
                  <c:v>2000-2010</c:v>
                </c:pt>
                <c:pt idx="1">
                  <c:v>2010-2020</c:v>
                </c:pt>
                <c:pt idx="2">
                  <c:v>2020-2030</c:v>
                </c:pt>
                <c:pt idx="3">
                  <c:v>2030-2040</c:v>
                </c:pt>
                <c:pt idx="4">
                  <c:v>2040-2050</c:v>
                </c:pt>
              </c:strCache>
            </c:strRef>
          </c:cat>
          <c:val>
            <c:numRef>
              <c:f>'Figure 2'!$B$15:$F$15</c:f>
              <c:numCache>
                <c:formatCode>General</c:formatCode>
                <c:ptCount val="5"/>
                <c:pt idx="0">
                  <c:v>0.15078498639379401</c:v>
                </c:pt>
                <c:pt idx="1">
                  <c:v>0.38553002802424879</c:v>
                </c:pt>
                <c:pt idx="2">
                  <c:v>0.1350450125904914</c:v>
                </c:pt>
                <c:pt idx="3">
                  <c:v>0.12405451071422932</c:v>
                </c:pt>
                <c:pt idx="4">
                  <c:v>9.9897447424244556E-2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56-4E01-9780-291F984C02A4}"/>
            </c:ext>
          </c:extLst>
        </c:ser>
        <c:ser>
          <c:idx val="1"/>
          <c:order val="1"/>
          <c:tx>
            <c:strRef>
              <c:f>'Figure 2'!$A$16</c:f>
              <c:strCache>
                <c:ptCount val="1"/>
                <c:pt idx="0">
                  <c:v>Alaska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2'!$B$14:$F$14</c:f>
              <c:strCache>
                <c:ptCount val="5"/>
                <c:pt idx="0">
                  <c:v>2000-2010</c:v>
                </c:pt>
                <c:pt idx="1">
                  <c:v>2010-2020</c:v>
                </c:pt>
                <c:pt idx="2">
                  <c:v>2020-2030</c:v>
                </c:pt>
                <c:pt idx="3">
                  <c:v>2030-2040</c:v>
                </c:pt>
                <c:pt idx="4">
                  <c:v>2040-2050</c:v>
                </c:pt>
              </c:strCache>
            </c:strRef>
          </c:cat>
          <c:val>
            <c:numRef>
              <c:f>'Figure 2'!$B$16:$F$16</c:f>
              <c:numCache>
                <c:formatCode>General</c:formatCode>
                <c:ptCount val="5"/>
                <c:pt idx="0">
                  <c:v>0.53892265889800839</c:v>
                </c:pt>
                <c:pt idx="1">
                  <c:v>0.73258946448724016</c:v>
                </c:pt>
                <c:pt idx="2">
                  <c:v>0.24730787413983296</c:v>
                </c:pt>
                <c:pt idx="3">
                  <c:v>0.1160328490208465</c:v>
                </c:pt>
                <c:pt idx="4">
                  <c:v>-6.8603255824484346E-3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56-4E01-9780-291F984C0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5"/>
        <c:overlap val="-10"/>
        <c:axId val="571322687"/>
        <c:axId val="571325567"/>
      </c:barChart>
      <c:catAx>
        <c:axId val="5713226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b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325567"/>
        <c:crosses val="autoZero"/>
        <c:auto val="0"/>
        <c:lblAlgn val="ctr"/>
        <c:lblOffset val="100"/>
        <c:noMultiLvlLbl val="0"/>
      </c:catAx>
      <c:valAx>
        <c:axId val="571325567"/>
        <c:scaling>
          <c:orientation val="minMax"/>
          <c:min val="-5.000000000000001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32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Income of</a:t>
            </a:r>
            <a:r>
              <a:rPr lang="en-US" sz="1800" baseline="0" dirty="0">
                <a:solidFill>
                  <a:schemeClr val="tx1"/>
                </a:solidFill>
              </a:rPr>
              <a:t> Retirees Aged 60+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Incomes!$B$2</c:f>
              <c:strCache>
                <c:ptCount val="1"/>
                <c:pt idx="0">
                  <c:v>Nominal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168880650808362E-3"/>
                  <c:y val="1.08844163171191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75-4CE2-9038-D854F583597A}"/>
                </c:ext>
              </c:extLst>
            </c:dLbl>
            <c:dLbl>
              <c:idx val="1"/>
              <c:layout>
                <c:manualLayout>
                  <c:x val="-1.016888065080836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75-4CE2-9038-D854F583597A}"/>
                </c:ext>
              </c:extLst>
            </c:dLbl>
            <c:dLbl>
              <c:idx val="2"/>
              <c:layout>
                <c:manualLayout>
                  <c:x val="-2.914241257377582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75-4CE2-9038-D854F583597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75-4CE2-9038-D854F583597A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Incomes!$A$3:$A$6</c:f>
              <c:numCache>
                <c:formatCode>General</c:formatCode>
                <c:ptCount val="4"/>
                <c:pt idx="0">
                  <c:v>1990</c:v>
                </c:pt>
                <c:pt idx="1">
                  <c:v>2005</c:v>
                </c:pt>
                <c:pt idx="2">
                  <c:v>2015</c:v>
                </c:pt>
                <c:pt idx="3">
                  <c:v>2023</c:v>
                </c:pt>
              </c:numCache>
            </c:numRef>
          </c:cat>
          <c:val>
            <c:numRef>
              <c:f>Incomes!$B$3:$B$6</c:f>
              <c:numCache>
                <c:formatCode>#,##0.00</c:formatCode>
                <c:ptCount val="4"/>
                <c:pt idx="0">
                  <c:v>14429.6</c:v>
                </c:pt>
                <c:pt idx="1">
                  <c:v>23934.57</c:v>
                </c:pt>
                <c:pt idx="2">
                  <c:v>35727.47</c:v>
                </c:pt>
                <c:pt idx="3">
                  <c:v>42994.76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75-4CE2-9038-D854F583597A}"/>
            </c:ext>
          </c:extLst>
        </c:ser>
        <c:ser>
          <c:idx val="1"/>
          <c:order val="1"/>
          <c:tx>
            <c:strRef>
              <c:f>Incomes!$C$2</c:f>
              <c:strCache>
                <c:ptCount val="1"/>
                <c:pt idx="0">
                  <c:v>Real (2023 Dollars)</c:v>
                </c:pt>
              </c:strCache>
            </c:strRef>
          </c:tx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3.4886460380793211E-2"/>
                  <c:y val="-9.634073887927129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75-4CE2-9038-D854F583597A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Incomes!$A$3:$A$6</c:f>
              <c:numCache>
                <c:formatCode>General</c:formatCode>
                <c:ptCount val="4"/>
                <c:pt idx="0">
                  <c:v>1990</c:v>
                </c:pt>
                <c:pt idx="1">
                  <c:v>2005</c:v>
                </c:pt>
                <c:pt idx="2">
                  <c:v>2015</c:v>
                </c:pt>
                <c:pt idx="3">
                  <c:v>2023</c:v>
                </c:pt>
              </c:numCache>
            </c:numRef>
          </c:cat>
          <c:val>
            <c:numRef>
              <c:f>Incomes!$C$3:$C$6</c:f>
              <c:numCache>
                <c:formatCode>General</c:formatCode>
                <c:ptCount val="4"/>
                <c:pt idx="0">
                  <c:v>32809.814170040489</c:v>
                </c:pt>
                <c:pt idx="1">
                  <c:v>37548.192391759774</c:v>
                </c:pt>
                <c:pt idx="2">
                  <c:v>46087.718262991679</c:v>
                </c:pt>
                <c:pt idx="3">
                  <c:v>42994.76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75-4CE2-9038-D854F58359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5"/>
        <c:overlap val="-27"/>
        <c:axId val="621365375"/>
        <c:axId val="621363935"/>
      </c:barChart>
      <c:catAx>
        <c:axId val="6213653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>
                    <a:solidFill>
                      <a:schemeClr val="tx1"/>
                    </a:solidFill>
                  </a:rPr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1363935"/>
        <c:crosses val="autoZero"/>
        <c:auto val="1"/>
        <c:lblAlgn val="ctr"/>
        <c:lblOffset val="100"/>
        <c:noMultiLvlLbl val="0"/>
      </c:catAx>
      <c:valAx>
        <c:axId val="621363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136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Traditional Medicare Spending</a:t>
            </a:r>
            <a:r>
              <a:rPr lang="en-US" sz="1800" baseline="0" dirty="0">
                <a:solidFill>
                  <a:schemeClr val="tx1"/>
                </a:solidFill>
              </a:rPr>
              <a:t> Per Enrollee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'Medicare Spending'!$B$31</c:f>
              <c:strCache>
                <c:ptCount val="1"/>
                <c:pt idx="0">
                  <c:v>Parts A &amp; B</c:v>
                </c:pt>
              </c:strCache>
            </c:strRef>
          </c:tx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FFC425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'Medicare Spending'!$A$32:$A$40</c:f>
              <c:numCache>
                <c:formatCode>General</c:formatCode>
                <c:ptCount val="9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</c:numCache>
            </c:numRef>
          </c:cat>
          <c:val>
            <c:numRef>
              <c:f>'Medicare Spending'!$B$32:$B$40</c:f>
              <c:numCache>
                <c:formatCode>"$"#,##0_);[Red]\("$"#,##0\)</c:formatCode>
                <c:ptCount val="9"/>
                <c:pt idx="0">
                  <c:v>7847</c:v>
                </c:pt>
                <c:pt idx="1">
                  <c:v>8028</c:v>
                </c:pt>
                <c:pt idx="2">
                  <c:v>8175</c:v>
                </c:pt>
                <c:pt idx="3">
                  <c:v>8579</c:v>
                </c:pt>
                <c:pt idx="4">
                  <c:v>8829</c:v>
                </c:pt>
                <c:pt idx="5">
                  <c:v>9260</c:v>
                </c:pt>
                <c:pt idx="6">
                  <c:v>9246</c:v>
                </c:pt>
                <c:pt idx="7">
                  <c:v>8811</c:v>
                </c:pt>
                <c:pt idx="8">
                  <c:v>9939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63-45A1-B78B-B04EB5245029}"/>
            </c:ext>
          </c:extLst>
        </c:ser>
        <c:ser>
          <c:idx val="1"/>
          <c:order val="1"/>
          <c:tx>
            <c:strRef>
              <c:f>'Medicare Spending'!$C$31</c:f>
              <c:strCache>
                <c:ptCount val="1"/>
                <c:pt idx="0">
                  <c:v>Part D</c:v>
                </c:pt>
              </c:strCache>
            </c:strRef>
          </c:tx>
          <c:spPr>
            <a:solidFill>
              <a:srgbClr val="FFC4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583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'Medicare Spending'!$A$32:$A$40</c:f>
              <c:numCache>
                <c:formatCode>General</c:formatCode>
                <c:ptCount val="9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</c:numCache>
            </c:numRef>
          </c:cat>
          <c:val>
            <c:numRef>
              <c:f>'Medicare Spending'!$C$32:$C$40</c:f>
              <c:numCache>
                <c:formatCode>"$"#,##0_);[Red]\("$"#,##0\)</c:formatCode>
                <c:ptCount val="9"/>
                <c:pt idx="0">
                  <c:v>3066</c:v>
                </c:pt>
                <c:pt idx="1">
                  <c:v>3559</c:v>
                </c:pt>
                <c:pt idx="2">
                  <c:v>3822</c:v>
                </c:pt>
                <c:pt idx="3">
                  <c:v>3737</c:v>
                </c:pt>
                <c:pt idx="4">
                  <c:v>3574</c:v>
                </c:pt>
                <c:pt idx="5">
                  <c:v>3739</c:v>
                </c:pt>
                <c:pt idx="6">
                  <c:v>4060</c:v>
                </c:pt>
                <c:pt idx="7">
                  <c:v>4422</c:v>
                </c:pt>
                <c:pt idx="8">
                  <c:v>4673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63-45A1-B78B-B04EB5245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778797183"/>
        <c:axId val="778812543"/>
      </c:barChart>
      <c:catAx>
        <c:axId val="778797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812543"/>
        <c:crosses val="autoZero"/>
        <c:auto val="1"/>
        <c:lblAlgn val="ctr"/>
        <c:lblOffset val="100"/>
        <c:noMultiLvlLbl val="0"/>
      </c:catAx>
      <c:valAx>
        <c:axId val="778812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797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/>
                </a:solidFill>
              </a:rPr>
              <a:t>Net Migration of Alaskans</a:t>
            </a:r>
            <a:r>
              <a:rPr lang="en-US" sz="1800" baseline="0">
                <a:solidFill>
                  <a:schemeClr val="tx1"/>
                </a:solidFill>
              </a:rPr>
              <a:t> Aged 65+</a:t>
            </a:r>
            <a:r>
              <a:rPr lang="en-US" sz="1800">
                <a:solidFill>
                  <a:schemeClr val="tx1"/>
                </a:solidFill>
              </a:rPr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'Figure 9'!$K$3</c:f>
              <c:strCache>
                <c:ptCount val="1"/>
                <c:pt idx="0">
                  <c:v>Alaska</c:v>
                </c:pt>
              </c:strCache>
            </c:strRef>
          </c:tx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9'!$L$2:$O$2</c:f>
              <c:strCache>
                <c:ptCount val="4"/>
                <c:pt idx="0">
                  <c:v>2005-2009</c:v>
                </c:pt>
                <c:pt idx="1">
                  <c:v>2010-2014</c:v>
                </c:pt>
                <c:pt idx="2">
                  <c:v>2015-2019</c:v>
                </c:pt>
                <c:pt idx="3">
                  <c:v>2021-2023</c:v>
                </c:pt>
              </c:strCache>
            </c:strRef>
          </c:cat>
          <c:val>
            <c:numRef>
              <c:f>'Figure 9'!$L$3:$O$3</c:f>
              <c:numCache>
                <c:formatCode>General</c:formatCode>
                <c:ptCount val="4"/>
                <c:pt idx="0">
                  <c:v>-17742</c:v>
                </c:pt>
                <c:pt idx="1">
                  <c:v>-24823</c:v>
                </c:pt>
                <c:pt idx="2">
                  <c:v>-18366</c:v>
                </c:pt>
                <c:pt idx="3">
                  <c:v>-4706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74-4243-A2AB-54863D635B79}"/>
            </c:ext>
          </c:extLst>
        </c:ser>
        <c:ser>
          <c:idx val="1"/>
          <c:order val="1"/>
          <c:tx>
            <c:strRef>
              <c:f>'Figure 9'!$K$4</c:f>
              <c:strCache>
                <c:ptCount val="1"/>
                <c:pt idx="0">
                  <c:v>Anchorage</c:v>
                </c:pt>
              </c:strCache>
            </c:strRef>
          </c:tx>
          <c:spPr>
            <a:solidFill>
              <a:srgbClr val="FFC425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9'!$L$2:$O$2</c:f>
              <c:strCache>
                <c:ptCount val="4"/>
                <c:pt idx="0">
                  <c:v>2005-2009</c:v>
                </c:pt>
                <c:pt idx="1">
                  <c:v>2010-2014</c:v>
                </c:pt>
                <c:pt idx="2">
                  <c:v>2015-2019</c:v>
                </c:pt>
                <c:pt idx="3">
                  <c:v>2021-2023</c:v>
                </c:pt>
              </c:strCache>
            </c:strRef>
          </c:cat>
          <c:val>
            <c:numRef>
              <c:f>'Figure 9'!$L$4:$O$4</c:f>
              <c:numCache>
                <c:formatCode>General</c:formatCode>
                <c:ptCount val="4"/>
                <c:pt idx="0">
                  <c:v>-9417</c:v>
                </c:pt>
                <c:pt idx="1">
                  <c:v>-9833</c:v>
                </c:pt>
                <c:pt idx="2">
                  <c:v>-10098</c:v>
                </c:pt>
                <c:pt idx="3">
                  <c:v>-599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74-4243-A2AB-54863D635B79}"/>
            </c:ext>
          </c:extLst>
        </c:ser>
        <c:ser>
          <c:idx val="2"/>
          <c:order val="2"/>
          <c:tx>
            <c:strRef>
              <c:f>'Figure 9'!$K$5</c:f>
              <c:strCache>
                <c:ptCount val="1"/>
                <c:pt idx="0">
                  <c:v>Mat-Su &amp; Kenai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9'!$L$2:$O$2</c:f>
              <c:strCache>
                <c:ptCount val="4"/>
                <c:pt idx="0">
                  <c:v>2005-2009</c:v>
                </c:pt>
                <c:pt idx="1">
                  <c:v>2010-2014</c:v>
                </c:pt>
                <c:pt idx="2">
                  <c:v>2015-2019</c:v>
                </c:pt>
                <c:pt idx="3">
                  <c:v>2021-2023</c:v>
                </c:pt>
              </c:strCache>
            </c:strRef>
          </c:cat>
          <c:val>
            <c:numRef>
              <c:f>'Figure 9'!$L$5:$O$5</c:f>
              <c:numCache>
                <c:formatCode>General</c:formatCode>
                <c:ptCount val="4"/>
                <c:pt idx="0">
                  <c:v>-1884</c:v>
                </c:pt>
                <c:pt idx="1">
                  <c:v>-5394</c:v>
                </c:pt>
                <c:pt idx="2">
                  <c:v>-2970</c:v>
                </c:pt>
                <c:pt idx="3">
                  <c:v>-1335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74-4243-A2AB-54863D635B79}"/>
            </c:ext>
          </c:extLst>
        </c:ser>
        <c:ser>
          <c:idx val="3"/>
          <c:order val="3"/>
          <c:tx>
            <c:strRef>
              <c:f>'Figure 9'!$K$6</c:f>
              <c:strCache>
                <c:ptCount val="1"/>
                <c:pt idx="0">
                  <c:v>Fairbanks, Juneau, Ketchikan &amp; Road-Connected Alaska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9'!$L$2:$O$2</c:f>
              <c:strCache>
                <c:ptCount val="4"/>
                <c:pt idx="0">
                  <c:v>2005-2009</c:v>
                </c:pt>
                <c:pt idx="1">
                  <c:v>2010-2014</c:v>
                </c:pt>
                <c:pt idx="2">
                  <c:v>2015-2019</c:v>
                </c:pt>
                <c:pt idx="3">
                  <c:v>2021-2023</c:v>
                </c:pt>
              </c:strCache>
            </c:strRef>
          </c:cat>
          <c:val>
            <c:numRef>
              <c:f>'Figure 9'!$L$6:$O$6</c:f>
              <c:numCache>
                <c:formatCode>General</c:formatCode>
                <c:ptCount val="4"/>
                <c:pt idx="0">
                  <c:v>-5196</c:v>
                </c:pt>
                <c:pt idx="1">
                  <c:v>-6703</c:v>
                </c:pt>
                <c:pt idx="2">
                  <c:v>-3234</c:v>
                </c:pt>
                <c:pt idx="3">
                  <c:v>-2646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874-4243-A2AB-54863D635B79}"/>
            </c:ext>
          </c:extLst>
        </c:ser>
        <c:ser>
          <c:idx val="4"/>
          <c:order val="4"/>
          <c:tx>
            <c:strRef>
              <c:f>'Figure 9'!$K$7</c:f>
              <c:strCache>
                <c:ptCount val="1"/>
                <c:pt idx="0">
                  <c:v>Subsistance Alaska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'Figure 9'!$L$2:$O$2</c:f>
              <c:strCache>
                <c:ptCount val="4"/>
                <c:pt idx="0">
                  <c:v>2005-2009</c:v>
                </c:pt>
                <c:pt idx="1">
                  <c:v>2010-2014</c:v>
                </c:pt>
                <c:pt idx="2">
                  <c:v>2015-2019</c:v>
                </c:pt>
                <c:pt idx="3">
                  <c:v>2021-2023</c:v>
                </c:pt>
              </c:strCache>
            </c:strRef>
          </c:cat>
          <c:val>
            <c:numRef>
              <c:f>'Figure 9'!$L$7:$O$7</c:f>
              <c:numCache>
                <c:formatCode>General</c:formatCode>
                <c:ptCount val="4"/>
                <c:pt idx="0">
                  <c:v>-1245</c:v>
                </c:pt>
                <c:pt idx="1">
                  <c:v>-2893</c:v>
                </c:pt>
                <c:pt idx="2">
                  <c:v>-2064</c:v>
                </c:pt>
                <c:pt idx="3">
                  <c:v>-126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74-4243-A2AB-54863D635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9"/>
        <c:overlap val="-20"/>
        <c:axId val="1772877135"/>
        <c:axId val="1772892015"/>
      </c:barChart>
      <c:catAx>
        <c:axId val="177287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2892015"/>
        <c:crosses val="autoZero"/>
        <c:auto val="1"/>
        <c:lblAlgn val="ctr"/>
        <c:lblOffset val="100"/>
        <c:noMultiLvlLbl val="0"/>
      </c:catAx>
      <c:valAx>
        <c:axId val="1772892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2877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0014817943869357E-2"/>
          <c:y val="0.72147927986501337"/>
          <c:w val="0.92563848655454617"/>
          <c:h val="0.187095981877944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Trends</a:t>
            </a:r>
            <a:r>
              <a:rPr lang="en-US" sz="1800" baseline="0" dirty="0">
                <a:solidFill>
                  <a:schemeClr val="tx1"/>
                </a:solidFill>
              </a:rPr>
              <a:t> in Dual-Eligibility for Medicare and Medicaid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'Dual Eligibles'!$K$22</c:f>
              <c:strCache>
                <c:ptCount val="1"/>
                <c:pt idx="0">
                  <c:v>Non-HIS Duals</c:v>
                </c:pt>
              </c:strCache>
            </c:strRef>
          </c:tx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FFC425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'Dual Eligibles'!$J$31:$J$37</c:f>
              <c:numCache>
                <c:formatCode>General</c:formatCode>
                <c:ptCount val="7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'Dual Eligibles'!$K$31:$K$37</c:f>
              <c:numCache>
                <c:formatCode>General</c:formatCode>
                <c:ptCount val="7"/>
                <c:pt idx="0">
                  <c:v>11176</c:v>
                </c:pt>
                <c:pt idx="1">
                  <c:v>16451</c:v>
                </c:pt>
                <c:pt idx="2">
                  <c:v>16334</c:v>
                </c:pt>
                <c:pt idx="3">
                  <c:v>19316</c:v>
                </c:pt>
                <c:pt idx="4">
                  <c:v>16498</c:v>
                </c:pt>
                <c:pt idx="5">
                  <c:v>15563</c:v>
                </c:pt>
                <c:pt idx="6">
                  <c:v>18324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B7-43B7-B103-F6618FC879A5}"/>
            </c:ext>
          </c:extLst>
        </c:ser>
        <c:ser>
          <c:idx val="1"/>
          <c:order val="1"/>
          <c:tx>
            <c:strRef>
              <c:f>'Dual Eligibles'!$L$22</c:f>
              <c:strCache>
                <c:ptCount val="1"/>
                <c:pt idx="0">
                  <c:v>IHS Duals</c:v>
                </c:pt>
              </c:strCache>
            </c:strRef>
          </c:tx>
          <c:spPr>
            <a:solidFill>
              <a:srgbClr val="FFC425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583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'Dual Eligibles'!$J$31:$J$37</c:f>
              <c:numCache>
                <c:formatCode>General</c:formatCode>
                <c:ptCount val="7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'Dual Eligibles'!$L$31:$L$37</c:f>
              <c:numCache>
                <c:formatCode>General</c:formatCode>
                <c:ptCount val="7"/>
                <c:pt idx="0">
                  <c:v>4351</c:v>
                </c:pt>
                <c:pt idx="1">
                  <c:v>2815</c:v>
                </c:pt>
                <c:pt idx="2">
                  <c:v>4833</c:v>
                </c:pt>
                <c:pt idx="3">
                  <c:v>3598</c:v>
                </c:pt>
                <c:pt idx="4">
                  <c:v>3630</c:v>
                </c:pt>
                <c:pt idx="5">
                  <c:v>4287</c:v>
                </c:pt>
                <c:pt idx="6">
                  <c:v>4868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B7-43B7-B103-F6618FC87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46450623"/>
        <c:axId val="146458303"/>
      </c:barChart>
      <c:catAx>
        <c:axId val="146450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458303"/>
        <c:crosses val="autoZero"/>
        <c:auto val="1"/>
        <c:lblAlgn val="ctr"/>
        <c:lblOffset val="100"/>
        <c:noMultiLvlLbl val="0"/>
      </c:catAx>
      <c:valAx>
        <c:axId val="146458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>
                    <a:solidFill>
                      <a:schemeClr val="tx1"/>
                    </a:solidFill>
                  </a:rPr>
                  <a:t>Number of Enrollees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450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Share of Medicare Beneficiaries with ADRD (2021)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ADRD!$B$27</c:f>
              <c:strCache>
                <c:ptCount val="1"/>
                <c:pt idx="0">
                  <c:v>Highly likely or likely</c:v>
                </c:pt>
              </c:strCache>
            </c:strRef>
          </c:tx>
          <c:spPr>
            <a:solidFill>
              <a:srgbClr val="00583D"/>
            </a:solidFill>
            <a:ln>
              <a:noFill/>
            </a:ln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FFC425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ADRD!$A$28:$A$45</c:f>
              <c:strCache>
                <c:ptCount val="18"/>
                <c:pt idx="0">
                  <c:v>Yukon-Koyukuk Census Area</c:v>
                </c:pt>
                <c:pt idx="1">
                  <c:v>Wade Hampton Census Area</c:v>
                </c:pt>
                <c:pt idx="2">
                  <c:v>Southeast Fairbanks Census Area</c:v>
                </c:pt>
                <c:pt idx="3">
                  <c:v>Skagway Municipality</c:v>
                </c:pt>
                <c:pt idx="4">
                  <c:v>Sitka City and Borough</c:v>
                </c:pt>
                <c:pt idx="5">
                  <c:v>Nome Census Area</c:v>
                </c:pt>
                <c:pt idx="6">
                  <c:v>Matanuska-Susitna Borough</c:v>
                </c:pt>
                <c:pt idx="7">
                  <c:v>Kusilvak Census Area</c:v>
                </c:pt>
                <c:pt idx="8">
                  <c:v>Kodiak Island Borough</c:v>
                </c:pt>
                <c:pt idx="9">
                  <c:v>Ketchikan Gateway Borough</c:v>
                </c:pt>
                <c:pt idx="10">
                  <c:v>Juneau City and Borough</c:v>
                </c:pt>
                <c:pt idx="11">
                  <c:v>Haines Borough</c:v>
                </c:pt>
                <c:pt idx="12">
                  <c:v>Fairbanks North Star Borough</c:v>
                </c:pt>
                <c:pt idx="13">
                  <c:v>Dillingham Census Area</c:v>
                </c:pt>
                <c:pt idx="14">
                  <c:v>Bristol Bay Borough</c:v>
                </c:pt>
                <c:pt idx="15">
                  <c:v>Bethel Census Area</c:v>
                </c:pt>
                <c:pt idx="16">
                  <c:v>Anchorage Municipality</c:v>
                </c:pt>
                <c:pt idx="17">
                  <c:v>Alaska</c:v>
                </c:pt>
              </c:strCache>
            </c:strRef>
          </c:cat>
          <c:val>
            <c:numRef>
              <c:f>ADRD!$B$28:$B$45</c:f>
              <c:numCache>
                <c:formatCode>General</c:formatCode>
                <c:ptCount val="18"/>
                <c:pt idx="0">
                  <c:v>4.3092522179974654E-2</c:v>
                </c:pt>
                <c:pt idx="1">
                  <c:v>6.2374245472837021E-2</c:v>
                </c:pt>
                <c:pt idx="2">
                  <c:v>5.1829268292682924E-2</c:v>
                </c:pt>
                <c:pt idx="3">
                  <c:v>3.4334763948497854E-2</c:v>
                </c:pt>
                <c:pt idx="4">
                  <c:v>7.3101490418736689E-2</c:v>
                </c:pt>
                <c:pt idx="5">
                  <c:v>7.8282828282828287E-2</c:v>
                </c:pt>
                <c:pt idx="6">
                  <c:v>6.9774919614147904E-2</c:v>
                </c:pt>
                <c:pt idx="7">
                  <c:v>6.2374245472837021E-2</c:v>
                </c:pt>
                <c:pt idx="8">
                  <c:v>5.9244126659856997E-2</c:v>
                </c:pt>
                <c:pt idx="9">
                  <c:v>7.0210234034113445E-2</c:v>
                </c:pt>
                <c:pt idx="10">
                  <c:v>6.1484490398818314E-2</c:v>
                </c:pt>
                <c:pt idx="11">
                  <c:v>3.0201342281879196E-2</c:v>
                </c:pt>
                <c:pt idx="12">
                  <c:v>5.8742361521781986E-2</c:v>
                </c:pt>
                <c:pt idx="13">
                  <c:v>5.1107325383304938E-2</c:v>
                </c:pt>
                <c:pt idx="14">
                  <c:v>4.5845272206303724E-2</c:v>
                </c:pt>
                <c:pt idx="15">
                  <c:v>5.0420168067226892E-2</c:v>
                </c:pt>
                <c:pt idx="16">
                  <c:v>7.1626158184503824E-2</c:v>
                </c:pt>
                <c:pt idx="17">
                  <c:v>6.5565947699942742E-2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F-4C69-BCF4-A1EAEA7C989D}"/>
            </c:ext>
          </c:extLst>
        </c:ser>
        <c:ser>
          <c:idx val="1"/>
          <c:order val="1"/>
          <c:tx>
            <c:strRef>
              <c:f>ADRD!$C$27</c:f>
              <c:strCache>
                <c:ptCount val="1"/>
                <c:pt idx="0">
                  <c:v>Possible</c:v>
                </c:pt>
              </c:strCache>
            </c:strRef>
          </c:tx>
          <c:spPr>
            <a:solidFill>
              <a:srgbClr val="FFC425"/>
            </a:solidFill>
            <a:ln>
              <a:noFill/>
            </a:ln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583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ADRD!$A$28:$A$45</c:f>
              <c:strCache>
                <c:ptCount val="18"/>
                <c:pt idx="0">
                  <c:v>Yukon-Koyukuk Census Area</c:v>
                </c:pt>
                <c:pt idx="1">
                  <c:v>Wade Hampton Census Area</c:v>
                </c:pt>
                <c:pt idx="2">
                  <c:v>Southeast Fairbanks Census Area</c:v>
                </c:pt>
                <c:pt idx="3">
                  <c:v>Skagway Municipality</c:v>
                </c:pt>
                <c:pt idx="4">
                  <c:v>Sitka City and Borough</c:v>
                </c:pt>
                <c:pt idx="5">
                  <c:v>Nome Census Area</c:v>
                </c:pt>
                <c:pt idx="6">
                  <c:v>Matanuska-Susitna Borough</c:v>
                </c:pt>
                <c:pt idx="7">
                  <c:v>Kusilvak Census Area</c:v>
                </c:pt>
                <c:pt idx="8">
                  <c:v>Kodiak Island Borough</c:v>
                </c:pt>
                <c:pt idx="9">
                  <c:v>Ketchikan Gateway Borough</c:v>
                </c:pt>
                <c:pt idx="10">
                  <c:v>Juneau City and Borough</c:v>
                </c:pt>
                <c:pt idx="11">
                  <c:v>Haines Borough</c:v>
                </c:pt>
                <c:pt idx="12">
                  <c:v>Fairbanks North Star Borough</c:v>
                </c:pt>
                <c:pt idx="13">
                  <c:v>Dillingham Census Area</c:v>
                </c:pt>
                <c:pt idx="14">
                  <c:v>Bristol Bay Borough</c:v>
                </c:pt>
                <c:pt idx="15">
                  <c:v>Bethel Census Area</c:v>
                </c:pt>
                <c:pt idx="16">
                  <c:v>Anchorage Municipality</c:v>
                </c:pt>
                <c:pt idx="17">
                  <c:v>Alaska</c:v>
                </c:pt>
              </c:strCache>
            </c:strRef>
          </c:cat>
          <c:val>
            <c:numRef>
              <c:f>ADRD!$C$28:$C$45</c:f>
              <c:numCache>
                <c:formatCode>General</c:formatCode>
                <c:ptCount val="18"/>
                <c:pt idx="0">
                  <c:v>2.1546261089987327E-2</c:v>
                </c:pt>
                <c:pt idx="1">
                  <c:v>3.4205231388329982E-2</c:v>
                </c:pt>
                <c:pt idx="2">
                  <c:v>2.5914634146341462E-2</c:v>
                </c:pt>
                <c:pt idx="3">
                  <c:v>2.4320457796852647E-2</c:v>
                </c:pt>
                <c:pt idx="4">
                  <c:v>4.9680624556422998E-2</c:v>
                </c:pt>
                <c:pt idx="5">
                  <c:v>4.2929292929292928E-2</c:v>
                </c:pt>
                <c:pt idx="6">
                  <c:v>2.6768488745980708E-2</c:v>
                </c:pt>
                <c:pt idx="7">
                  <c:v>3.4205231388329982E-2</c:v>
                </c:pt>
                <c:pt idx="8">
                  <c:v>2.8600612870275793E-2</c:v>
                </c:pt>
                <c:pt idx="9">
                  <c:v>3.2923443078143592E-2</c:v>
                </c:pt>
                <c:pt idx="10">
                  <c:v>3.0834564254062037E-2</c:v>
                </c:pt>
                <c:pt idx="11">
                  <c:v>6.7114093959731544E-2</c:v>
                </c:pt>
                <c:pt idx="12">
                  <c:v>2.4541691306918984E-2</c:v>
                </c:pt>
                <c:pt idx="13">
                  <c:v>2.8960817717206135E-2</c:v>
                </c:pt>
                <c:pt idx="14">
                  <c:v>2.5787965616045846E-2</c:v>
                </c:pt>
                <c:pt idx="15">
                  <c:v>2.9411764705882353E-2</c:v>
                </c:pt>
                <c:pt idx="16">
                  <c:v>3.4510541157513092E-2</c:v>
                </c:pt>
                <c:pt idx="17">
                  <c:v>3.2767067506521599E-2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AF-4C69-BCF4-A1EAEA7C9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772881935"/>
        <c:axId val="1772891055"/>
      </c:barChart>
      <c:catAx>
        <c:axId val="17728819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2891055"/>
        <c:crosses val="autoZero"/>
        <c:auto val="1"/>
        <c:lblAlgn val="ctr"/>
        <c:lblOffset val="100"/>
        <c:noMultiLvlLbl val="0"/>
      </c:catAx>
      <c:valAx>
        <c:axId val="1772891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28819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80B15-1670-4C5B-925A-D1001B9F786C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CE585-D76C-4606-BFF4-CD799F5377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9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CB59-32E2-68B2-D285-13458AC6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FB40B-AA33-A4D5-31E5-F211EB3BB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DEA6E-A884-6FF8-CEBF-9FC5BE3A5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F7655-0355-AB78-9C7F-41D806C76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6CE585-D76C-4606-BFF4-CD799F5377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156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6978-4D0A-89ED-D4E4-2A4378E49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16373-9AF7-85D1-7948-3B08C32F4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A29FB-973C-4A60-F955-0D52CCD37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344A1-AAB5-2262-ABC3-D9344EBB0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6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2CCD-79C0-72DE-E8B2-E556DE48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81B4B-CF8A-B074-9561-D3E5AA9D4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E5ED2-DC8C-5227-BFC1-DD6286435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D18D-4585-F6BF-6F3E-B7D28033C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71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5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1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7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58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9D36-8E97-A2AC-1C15-01157265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0A45D-70BD-357D-4AB4-74B406411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FFB9F-2F13-A6BA-DF90-FCE510D83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56939-ED2A-BF8A-7E21-6BD53D0C8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97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C3935-C059-32E0-BCBF-6D7C7F7E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EAAC8-F1CD-9E1D-75C6-1D1B6E002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D83FE-1917-38AF-29AB-406681321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A337-5AA4-26EB-13BC-F635DBD99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661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2C8A3-66AB-47BC-1386-696BE07C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ABB85-0B57-9D9D-9205-3D44DE6A4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6DD48-FDF5-4857-E5B3-7DBF23CEF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C1E7A-163E-2A33-EFDC-4F517FF16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E585-D76C-4606-BFF4-CD799F5377A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550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4050DE-08A5-481F-955C-63C806E327D5}"/>
              </a:ext>
            </a:extLst>
          </p:cNvPr>
          <p:cNvSpPr/>
          <p:nvPr userDrawn="1"/>
        </p:nvSpPr>
        <p:spPr>
          <a:xfrm>
            <a:off x="1357548" y="969962"/>
            <a:ext cx="9610726" cy="52609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6000">
                <a:srgbClr val="CBC7C2">
                  <a:alpha val="80000"/>
                </a:srgbClr>
              </a:gs>
              <a:gs pos="100000">
                <a:srgbClr val="CBC7C2">
                  <a:alpha val="90000"/>
                </a:srgbClr>
              </a:gs>
            </a:gsLst>
            <a:lin ang="16200000" scaled="0"/>
          </a:gra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F8CDDF8-495E-45FC-A9A1-CF1B69A5B746}"/>
              </a:ext>
            </a:extLst>
          </p:cNvPr>
          <p:cNvSpPr txBox="1">
            <a:spLocks/>
          </p:cNvSpPr>
          <p:nvPr userDrawn="1"/>
        </p:nvSpPr>
        <p:spPr>
          <a:xfrm>
            <a:off x="87815" y="6492875"/>
            <a:ext cx="974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EE2B36-DC3B-4CFC-89D0-940999F1E5A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0ECB4-E738-44CA-9FE2-F03A67444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037" y="969962"/>
            <a:ext cx="10067925" cy="155575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A93DFCF-7B91-4F37-AB8F-FD99261416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938" y="4910009"/>
            <a:ext cx="4821946" cy="106070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7CE44ED-6D2B-4217-994A-BF233B976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94025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71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4050DE-08A5-481F-955C-63C806E327D5}"/>
              </a:ext>
            </a:extLst>
          </p:cNvPr>
          <p:cNvSpPr/>
          <p:nvPr userDrawn="1"/>
        </p:nvSpPr>
        <p:spPr>
          <a:xfrm>
            <a:off x="0" y="13491"/>
            <a:ext cx="12192000" cy="68310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0"/>
                </a:schemeClr>
              </a:gs>
              <a:gs pos="76000">
                <a:srgbClr val="CBC7C2">
                  <a:alpha val="80000"/>
                </a:srgbClr>
              </a:gs>
              <a:gs pos="100000">
                <a:srgbClr val="CBC7C2">
                  <a:alpha val="90000"/>
                </a:srgbClr>
              </a:gs>
            </a:gsLst>
            <a:lin ang="16200000" scaled="0"/>
          </a:gra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C488C378-2483-4939-8CF6-AD497C8B5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688649E-4DD3-4E60-A3A5-E9A820106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8D24D0EE-407C-4893-A93E-D02845B87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1A5C66-F5BD-4258-B146-F1ECD43BA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" y="6049738"/>
            <a:ext cx="12152060" cy="7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0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4050DE-08A5-481F-955C-63C806E327D5}"/>
              </a:ext>
            </a:extLst>
          </p:cNvPr>
          <p:cNvSpPr/>
          <p:nvPr userDrawn="1"/>
        </p:nvSpPr>
        <p:spPr>
          <a:xfrm>
            <a:off x="0" y="13491"/>
            <a:ext cx="12192000" cy="68310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0"/>
                </a:schemeClr>
              </a:gs>
              <a:gs pos="76000">
                <a:srgbClr val="CBC7C2">
                  <a:alpha val="80000"/>
                </a:srgbClr>
              </a:gs>
              <a:gs pos="100000">
                <a:srgbClr val="CBC7C2">
                  <a:alpha val="90000"/>
                </a:srgbClr>
              </a:gs>
            </a:gsLst>
            <a:lin ang="16200000" scaled="0"/>
          </a:gra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A5B02B-CC73-4800-96F0-3A5B53B5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5EF650-FCD9-40E0-8EA5-6695E7C7C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B0A50-350D-413C-BFFC-FF9CF665A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2EBA55-357E-4EC4-8167-08527EA80C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" y="6049738"/>
            <a:ext cx="12152060" cy="7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5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097C4E-0A68-4D75-B486-0E68BAE44222}"/>
              </a:ext>
            </a:extLst>
          </p:cNvPr>
          <p:cNvSpPr/>
          <p:nvPr userDrawn="1"/>
        </p:nvSpPr>
        <p:spPr>
          <a:xfrm>
            <a:off x="0" y="13491"/>
            <a:ext cx="12192000" cy="68310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0"/>
                </a:schemeClr>
              </a:gs>
              <a:gs pos="76000">
                <a:srgbClr val="CBC7C2">
                  <a:alpha val="80000"/>
                </a:srgbClr>
              </a:gs>
              <a:gs pos="100000">
                <a:srgbClr val="CBC7C2">
                  <a:alpha val="90000"/>
                </a:srgbClr>
              </a:gs>
            </a:gsLst>
            <a:lin ang="16200000" scaled="0"/>
          </a:gra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F3D93A-5EA1-4B9C-80D8-4D0CFC088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D01BC81-8DFC-41B7-A0F0-1679BCDB4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486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F7888A-00B2-4BF3-8230-FAB46E15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A9092C-5D80-4DD1-9098-697A6A5DC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" y="6049738"/>
            <a:ext cx="12152060" cy="7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7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4050DE-08A5-481F-955C-63C806E327D5}"/>
              </a:ext>
            </a:extLst>
          </p:cNvPr>
          <p:cNvSpPr/>
          <p:nvPr userDrawn="1"/>
        </p:nvSpPr>
        <p:spPr>
          <a:xfrm>
            <a:off x="0" y="13491"/>
            <a:ext cx="12192000" cy="68310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0"/>
                </a:schemeClr>
              </a:gs>
              <a:gs pos="76000">
                <a:srgbClr val="CBC7C2">
                  <a:alpha val="80000"/>
                </a:srgbClr>
              </a:gs>
              <a:gs pos="100000">
                <a:srgbClr val="CBC7C2">
                  <a:alpha val="90000"/>
                </a:srgbClr>
              </a:gs>
            </a:gsLst>
            <a:lin ang="16200000" scaled="0"/>
          </a:gra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EC37C5-3392-47F4-A56E-D52F06480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462" y="59362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51DD8166-5417-438D-BD27-841F15CEB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3376" y="113178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2CDFA0-8D36-47FE-AB33-4DF370512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2462" y="219382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AFB0E9-4834-4FE8-90CE-541C8973D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" y="6049738"/>
            <a:ext cx="12152060" cy="7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1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4050DE-08A5-481F-955C-63C806E327D5}"/>
              </a:ext>
            </a:extLst>
          </p:cNvPr>
          <p:cNvSpPr/>
          <p:nvPr userDrawn="1"/>
        </p:nvSpPr>
        <p:spPr>
          <a:xfrm>
            <a:off x="0" y="13491"/>
            <a:ext cx="12192000" cy="68310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0"/>
                </a:schemeClr>
              </a:gs>
              <a:gs pos="76000">
                <a:srgbClr val="CBC7C2">
                  <a:alpha val="80000"/>
                </a:srgbClr>
              </a:gs>
              <a:gs pos="100000">
                <a:srgbClr val="CBC7C2">
                  <a:alpha val="90000"/>
                </a:srgbClr>
              </a:gs>
            </a:gsLst>
            <a:lin ang="16200000" scaled="0"/>
          </a:gra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8F463-056A-43F2-80D0-4542D442D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325" y="787400"/>
            <a:ext cx="10067925" cy="155575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4B3460-BEB0-45E6-9D8F-0BE09EC88C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" y="6049738"/>
            <a:ext cx="12152060" cy="77650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15944-ADEB-4B16-934C-995D3C7955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2917825"/>
            <a:ext cx="7851775" cy="1555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20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4050DE-08A5-481F-955C-63C806E327D5}"/>
              </a:ext>
            </a:extLst>
          </p:cNvPr>
          <p:cNvSpPr/>
          <p:nvPr userDrawn="1"/>
        </p:nvSpPr>
        <p:spPr>
          <a:xfrm>
            <a:off x="0" y="13491"/>
            <a:ext cx="12192000" cy="68310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7000"/>
                </a:schemeClr>
              </a:gs>
              <a:gs pos="95000">
                <a:srgbClr val="CBC7C2">
                  <a:alpha val="95000"/>
                </a:srgbClr>
              </a:gs>
              <a:gs pos="100000">
                <a:srgbClr val="CBC7C2">
                  <a:alpha val="95000"/>
                </a:srgbClr>
              </a:gs>
            </a:gsLst>
            <a:lin ang="16200000" scaled="0"/>
          </a:gra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8F463-056A-43F2-80D0-4542D442D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325" y="787400"/>
            <a:ext cx="10067925" cy="155575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4B3460-BEB0-45E6-9D8F-0BE09EC88C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" y="6049738"/>
            <a:ext cx="12152060" cy="77650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15944-ADEB-4B16-934C-995D3C7955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2917825"/>
            <a:ext cx="7851775" cy="1555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39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AAA931-0F87-4EB2-85D5-99F09408E072}"/>
              </a:ext>
            </a:extLst>
          </p:cNvPr>
          <p:cNvSpPr/>
          <p:nvPr userDrawn="1"/>
        </p:nvSpPr>
        <p:spPr>
          <a:xfrm>
            <a:off x="0" y="13491"/>
            <a:ext cx="12192000" cy="6831018"/>
          </a:xfrm>
          <a:prstGeom prst="rect">
            <a:avLst/>
          </a:prstGeom>
          <a:solidFill>
            <a:schemeClr val="bg1"/>
          </a:solidFill>
          <a:ln w="38100">
            <a:solidFill>
              <a:srgbClr val="FFC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9756A-6BF6-43F2-98B0-2F8BCF01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A62328-958D-4BCC-998F-C7D0F27683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" y="6049738"/>
            <a:ext cx="12152060" cy="7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7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35932E-960B-4402-A7D1-7B77138843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0" t="10355" b="103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5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3" r:id="rId4"/>
    <p:sldLayoutId id="2147483665" r:id="rId5"/>
    <p:sldLayoutId id="2147483666" r:id="rId6"/>
    <p:sldLayoutId id="2147483668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583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583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583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58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583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583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154C0-40AE-32B7-9CAB-830D8E55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C0DB-DD1F-C772-A49B-BA774F2DEB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Roboto Slab" panose="020F0502020204030204" pitchFamily="2" charset="0"/>
              </a:rPr>
              <a:t>The Economic Contribution of Older Alaskans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21907-3E41-E4A0-466D-082C55861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743200"/>
            <a:ext cx="9144000" cy="19065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December 2025</a:t>
            </a:r>
          </a:p>
          <a:p>
            <a:r>
              <a:rPr lang="en-US" dirty="0"/>
              <a:t>Spencer Perry</a:t>
            </a:r>
          </a:p>
        </p:txBody>
      </p:sp>
    </p:spTree>
    <p:extLst>
      <p:ext uri="{BB962C8B-B14F-4D97-AF65-F5344CB8AC3E}">
        <p14:creationId xmlns:p14="http://schemas.microsoft.com/office/powerpoint/2010/main" val="235978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9A0F-641C-1283-9DAF-E536E1B4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C98E-E2D3-19DF-AA2B-FA8A68F1F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174"/>
            <a:ext cx="12192000" cy="691797"/>
          </a:xfrm>
        </p:spPr>
        <p:txBody>
          <a:bodyPr/>
          <a:lstStyle/>
          <a:p>
            <a:pPr algn="ctr"/>
            <a:r>
              <a:rPr lang="en-US" sz="4000" dirty="0">
                <a:latin typeface="Roboto Slab" panose="020F0502020204030204" pitchFamily="2" charset="0"/>
              </a:rPr>
              <a:t>The Economic Contribution of Older Alaskans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8B41-6C85-BA34-25B0-4FE572D8E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3636" y="1118419"/>
            <a:ext cx="11204728" cy="462116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 2004 ISER report found that retirees aged 60+ contributed roughly $1.46 billion to the state economy.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7C6E71A-713F-2F35-39EB-09540AC3E6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26948"/>
              </p:ext>
            </p:extLst>
          </p:nvPr>
        </p:nvGraphicFramePr>
        <p:xfrm>
          <a:off x="1050652" y="1417320"/>
          <a:ext cx="10090695" cy="5321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6596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72EF-E306-0A29-055B-4C230576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018A51C-9B42-3789-A72F-08A32F086DD8}"/>
              </a:ext>
            </a:extLst>
          </p:cNvPr>
          <p:cNvSpPr txBox="1">
            <a:spLocks/>
          </p:cNvSpPr>
          <p:nvPr/>
        </p:nvSpPr>
        <p:spPr>
          <a:xfrm>
            <a:off x="493635" y="1118419"/>
            <a:ext cx="11204729" cy="52700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00583D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rgbClr val="00583D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rgbClr val="00583D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00583D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00583D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Using an updated methodology, we estimate that number grew to roughly $6.7 billion in 2023.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6E60708-9A86-29E5-AB55-921946768A2E}"/>
              </a:ext>
            </a:extLst>
          </p:cNvPr>
          <p:cNvGraphicFramePr>
            <a:graphicFrameLocks/>
          </p:cNvGraphicFramePr>
          <p:nvPr/>
        </p:nvGraphicFramePr>
        <p:xfrm>
          <a:off x="190860" y="1767349"/>
          <a:ext cx="6286858" cy="4707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C737D2F-8154-5DCF-354F-D0280DBCE2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4362742"/>
              </p:ext>
            </p:extLst>
          </p:nvPr>
        </p:nvGraphicFramePr>
        <p:xfrm>
          <a:off x="1030223" y="1610013"/>
          <a:ext cx="10131551" cy="5168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8B0BF0A-9E8C-8051-21A7-433E9F72A085}"/>
              </a:ext>
            </a:extLst>
          </p:cNvPr>
          <p:cNvSpPr txBox="1">
            <a:spLocks/>
          </p:cNvSpPr>
          <p:nvPr/>
        </p:nvSpPr>
        <p:spPr>
          <a:xfrm>
            <a:off x="0" y="230174"/>
            <a:ext cx="12192000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The Economic Contribution of Older Alaskans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8232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D0CAAF2-3921-46C3-264E-1D129FEFC4A1}"/>
              </a:ext>
            </a:extLst>
          </p:cNvPr>
          <p:cNvSpPr txBox="1">
            <a:spLocks/>
          </p:cNvSpPr>
          <p:nvPr/>
        </p:nvSpPr>
        <p:spPr>
          <a:xfrm>
            <a:off x="0" y="230174"/>
            <a:ext cx="12192000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This Contribution Will Continue to Grow</a:t>
            </a: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779A6-5903-C14C-41E7-DED78247A471}"/>
              </a:ext>
            </a:extLst>
          </p:cNvPr>
          <p:cNvSpPr txBox="1"/>
          <p:nvPr/>
        </p:nvSpPr>
        <p:spPr>
          <a:xfrm>
            <a:off x="3189768" y="6103087"/>
            <a:ext cx="6305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Notes: Percentages reflect share of population aged 65+ in each year. </a:t>
            </a:r>
          </a:p>
          <a:p>
            <a:r>
              <a:rPr lang="en-US" sz="1400" dirty="0"/>
              <a:t>Source: U.S. Census Bureau and Alaska Department of Labor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49516C9-D974-D859-222C-35976FC3A0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8197998"/>
              </p:ext>
            </p:extLst>
          </p:nvPr>
        </p:nvGraphicFramePr>
        <p:xfrm>
          <a:off x="1800446" y="921970"/>
          <a:ext cx="9044763" cy="5181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9757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32A31-A24B-FFAD-A4E0-B4151BB4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A74D948-24D9-AFEF-35B3-CA2B5422521A}"/>
              </a:ext>
            </a:extLst>
          </p:cNvPr>
          <p:cNvGraphicFramePr>
            <a:graphicFrameLocks/>
          </p:cNvGraphicFramePr>
          <p:nvPr/>
        </p:nvGraphicFramePr>
        <p:xfrm>
          <a:off x="1951753" y="860874"/>
          <a:ext cx="8288489" cy="5563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2FAB7B69-1537-9C74-470D-9FFF9905C6E1}"/>
              </a:ext>
            </a:extLst>
          </p:cNvPr>
          <p:cNvSpPr txBox="1">
            <a:spLocks/>
          </p:cNvSpPr>
          <p:nvPr/>
        </p:nvSpPr>
        <p:spPr>
          <a:xfrm>
            <a:off x="0" y="230174"/>
            <a:ext cx="12192000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This Contribution Will Continue to Grow</a:t>
            </a: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0850D-3BF1-1645-754F-0FE363EF31A2}"/>
              </a:ext>
            </a:extLst>
          </p:cNvPr>
          <p:cNvSpPr txBox="1"/>
          <p:nvPr/>
        </p:nvSpPr>
        <p:spPr>
          <a:xfrm>
            <a:off x="4098532" y="6286069"/>
            <a:ext cx="3994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U.S. Census Bureau and Alaska Department of Labor</a:t>
            </a:r>
          </a:p>
        </p:txBody>
      </p:sp>
    </p:spTree>
    <p:extLst>
      <p:ext uri="{BB962C8B-B14F-4D97-AF65-F5344CB8AC3E}">
        <p14:creationId xmlns:p14="http://schemas.microsoft.com/office/powerpoint/2010/main" val="210710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27300-5FBD-7327-3CB2-4EFBCE4B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9607D8-9931-4E10-68FC-4991DFA19F89}"/>
              </a:ext>
            </a:extLst>
          </p:cNvPr>
          <p:cNvSpPr txBox="1">
            <a:spLocks/>
          </p:cNvSpPr>
          <p:nvPr/>
        </p:nvSpPr>
        <p:spPr>
          <a:xfrm>
            <a:off x="0" y="230174"/>
            <a:ext cx="12192000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This Contribution Will Continue to Grow</a:t>
            </a:r>
            <a:endParaRPr lang="en-US" sz="40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F79EF3-EC4F-D1EB-59C9-551CA840A1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039975"/>
              </p:ext>
            </p:extLst>
          </p:nvPr>
        </p:nvGraphicFramePr>
        <p:xfrm>
          <a:off x="998219" y="921971"/>
          <a:ext cx="10942143" cy="5351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06A6E0-B1F5-BFB8-9282-550969684F86}"/>
              </a:ext>
            </a:extLst>
          </p:cNvPr>
          <p:cNvSpPr txBox="1"/>
          <p:nvPr/>
        </p:nvSpPr>
        <p:spPr>
          <a:xfrm>
            <a:off x="4920472" y="6132583"/>
            <a:ext cx="2351056" cy="281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U.S. Census Bureau</a:t>
            </a:r>
          </a:p>
        </p:txBody>
      </p:sp>
    </p:spTree>
    <p:extLst>
      <p:ext uri="{BB962C8B-B14F-4D97-AF65-F5344CB8AC3E}">
        <p14:creationId xmlns:p14="http://schemas.microsoft.com/office/powerpoint/2010/main" val="2782346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36F0-FAB9-3115-1213-CEAB108F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3080FD-C640-CE26-C64F-C37741A7EB86}"/>
              </a:ext>
            </a:extLst>
          </p:cNvPr>
          <p:cNvSpPr txBox="1">
            <a:spLocks/>
          </p:cNvSpPr>
          <p:nvPr/>
        </p:nvSpPr>
        <p:spPr>
          <a:xfrm>
            <a:off x="0" y="230174"/>
            <a:ext cx="12192000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This Contribution Will Continue to Grow</a:t>
            </a:r>
            <a:endParaRPr lang="en-US" sz="40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E457833-D504-1AEF-0A41-BB2C6C8612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3612325"/>
              </p:ext>
            </p:extLst>
          </p:nvPr>
        </p:nvGraphicFramePr>
        <p:xfrm>
          <a:off x="1660636" y="921971"/>
          <a:ext cx="8870728" cy="5291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CC961D3-0202-97BB-44BB-C48B4142D61A}"/>
              </a:ext>
            </a:extLst>
          </p:cNvPr>
          <p:cNvSpPr txBox="1"/>
          <p:nvPr/>
        </p:nvSpPr>
        <p:spPr>
          <a:xfrm>
            <a:off x="4920472" y="6213028"/>
            <a:ext cx="2351056" cy="281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Kaiser Family Foundation </a:t>
            </a:r>
          </a:p>
        </p:txBody>
      </p:sp>
    </p:spTree>
    <p:extLst>
      <p:ext uri="{BB962C8B-B14F-4D97-AF65-F5344CB8AC3E}">
        <p14:creationId xmlns:p14="http://schemas.microsoft.com/office/powerpoint/2010/main" val="198476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DE311-E683-30B2-5DDA-F86E7365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C8A3604-87E7-6108-8D19-CF4DAD98F9F1}"/>
              </a:ext>
            </a:extLst>
          </p:cNvPr>
          <p:cNvSpPr txBox="1">
            <a:spLocks/>
          </p:cNvSpPr>
          <p:nvPr/>
        </p:nvSpPr>
        <p:spPr>
          <a:xfrm>
            <a:off x="-47017" y="230174"/>
            <a:ext cx="12286034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But an Aging Population Presents New Challenges</a:t>
            </a:r>
            <a:endParaRPr lang="en-US" sz="40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7B53E98-3DA8-497F-EA94-962CED3D12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674221"/>
              </p:ext>
            </p:extLst>
          </p:nvPr>
        </p:nvGraphicFramePr>
        <p:xfrm>
          <a:off x="2227633" y="1006537"/>
          <a:ext cx="7850221" cy="5121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082D26-C6A3-24A3-E4CF-3EC5ACB2E947}"/>
              </a:ext>
            </a:extLst>
          </p:cNvPr>
          <p:cNvSpPr txBox="1"/>
          <p:nvPr/>
        </p:nvSpPr>
        <p:spPr>
          <a:xfrm>
            <a:off x="4180031" y="5712963"/>
            <a:ext cx="383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U.S. Census Bureau’s American Community Survey</a:t>
            </a:r>
          </a:p>
        </p:txBody>
      </p:sp>
    </p:spTree>
    <p:extLst>
      <p:ext uri="{BB962C8B-B14F-4D97-AF65-F5344CB8AC3E}">
        <p14:creationId xmlns:p14="http://schemas.microsoft.com/office/powerpoint/2010/main" val="4139754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CB9E-0C03-98D1-CC9D-05B45F2F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BDDFAD6-BB88-C0A7-1DB1-B4350FD4EC3F}"/>
              </a:ext>
            </a:extLst>
          </p:cNvPr>
          <p:cNvSpPr txBox="1">
            <a:spLocks/>
          </p:cNvSpPr>
          <p:nvPr/>
        </p:nvSpPr>
        <p:spPr>
          <a:xfrm>
            <a:off x="-47017" y="230174"/>
            <a:ext cx="12286034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But an Aging Population Presents New Challenges</a:t>
            </a:r>
            <a:endParaRPr lang="en-US" sz="40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6D41CD4-E89A-0B1D-BA62-8839567B6C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708385"/>
              </p:ext>
            </p:extLst>
          </p:nvPr>
        </p:nvGraphicFramePr>
        <p:xfrm>
          <a:off x="2403542" y="991657"/>
          <a:ext cx="7384915" cy="4665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D22339-EE1E-DE81-FE08-EF246AF217ED}"/>
              </a:ext>
            </a:extLst>
          </p:cNvPr>
          <p:cNvSpPr txBox="1"/>
          <p:nvPr/>
        </p:nvSpPr>
        <p:spPr>
          <a:xfrm>
            <a:off x="4180031" y="5587187"/>
            <a:ext cx="383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U.S. Census Bureau’s American Community Survey</a:t>
            </a:r>
          </a:p>
        </p:txBody>
      </p:sp>
    </p:spTree>
    <p:extLst>
      <p:ext uri="{BB962C8B-B14F-4D97-AF65-F5344CB8AC3E}">
        <p14:creationId xmlns:p14="http://schemas.microsoft.com/office/powerpoint/2010/main" val="3201663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3B23-BE4D-AA01-99F4-1FDE5D79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B7330F5-0A73-AE86-2955-7D56F7BAD97C}"/>
              </a:ext>
            </a:extLst>
          </p:cNvPr>
          <p:cNvSpPr txBox="1">
            <a:spLocks/>
          </p:cNvSpPr>
          <p:nvPr/>
        </p:nvSpPr>
        <p:spPr>
          <a:xfrm>
            <a:off x="-47017" y="230174"/>
            <a:ext cx="12286034" cy="69179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83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Roboto Slab" panose="020F0502020204030204" pitchFamily="2" charset="0"/>
              </a:rPr>
              <a:t>But an Aging Population Presents New Challenges</a:t>
            </a:r>
            <a:endParaRPr lang="en-US" sz="4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331C1DF-B71C-28BA-F9C0-AA6B916988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8937820"/>
              </p:ext>
            </p:extLst>
          </p:nvPr>
        </p:nvGraphicFramePr>
        <p:xfrm>
          <a:off x="2595815" y="921971"/>
          <a:ext cx="7000369" cy="5223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1952714-D9CD-8D32-6690-F513FC0148DB}"/>
              </a:ext>
            </a:extLst>
          </p:cNvPr>
          <p:cNvSpPr txBox="1"/>
          <p:nvPr/>
        </p:nvSpPr>
        <p:spPr>
          <a:xfrm>
            <a:off x="4140833" y="6145928"/>
            <a:ext cx="3910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NORC at the University of Chicago Dementia Datahub</a:t>
            </a:r>
          </a:p>
        </p:txBody>
      </p:sp>
    </p:spTree>
    <p:extLst>
      <p:ext uri="{BB962C8B-B14F-4D97-AF65-F5344CB8AC3E}">
        <p14:creationId xmlns:p14="http://schemas.microsoft.com/office/powerpoint/2010/main" val="418082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AA 1">
      <a:majorFont>
        <a:latin typeface="Roboto Condensed Black"/>
        <a:ea typeface=""/>
        <a:cs typeface=""/>
      </a:majorFont>
      <a:minorFont>
        <a:latin typeface="Roboto Condensed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085CBD8-B05B-4310-90EE-E4751131829F}" vid="{E3290A95-CBC9-4317-8711-A2BE73EB4E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</TotalTime>
  <Words>304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Roboto Slab</vt:lpstr>
      <vt:lpstr>Office Theme</vt:lpstr>
      <vt:lpstr>The Economic Contribution of Older Alaskans</vt:lpstr>
      <vt:lpstr>The Economic Contribution of Older Alaskans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Lindsy Glick</dc:creator>
  <cp:lastModifiedBy>Spencer Perry</cp:lastModifiedBy>
  <cp:revision>6</cp:revision>
  <dcterms:created xsi:type="dcterms:W3CDTF">2025-05-05T19:57:34Z</dcterms:created>
  <dcterms:modified xsi:type="dcterms:W3CDTF">2025-12-02T23:14:30Z</dcterms:modified>
</cp:coreProperties>
</file>